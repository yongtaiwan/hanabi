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aeeb8f3332846f4" /><Relationship Type="http://schemas.openxmlformats.org/officeDocument/2006/relationships/extended-properties" Target="/docProps/app.xml" Id="Rde36c43b6e54476f" /><Relationship Type="http://schemas.openxmlformats.org/officeDocument/2006/relationships/officeDocument" Target="/ppt/presentation.xml" Id="R1f431ea79a4843da" /></Relationships>
</file>

<file path=ppt/presentation.xml><?xml version="1.0" encoding="utf-8"?>
<p:presentation xmlns:p="http://schemas.openxmlformats.org/presentationml/2006/main">
  <p:sldMasterIdLst>
    <p:sldMasterId xmlns:r="http://schemas.openxmlformats.org/officeDocument/2006/relationships" id="2147483648" r:id="R03b21e6ccd6e4179"/>
  </p:sldMasterIdLst>
  <p:notesMasterIdLst>
    <p:notesMasterId xmlns:r="http://schemas.openxmlformats.org/officeDocument/2006/relationships" r:id="Raa8d5dab3d824f28"/>
  </p:notesMasterIdLst>
  <p:sldIdLst>
    <p:sldId xmlns:r="http://schemas.openxmlformats.org/officeDocument/2006/relationships" id="256" r:id="Rd02d8e50e6514008"/>
    <p:sldId xmlns:r="http://schemas.openxmlformats.org/officeDocument/2006/relationships" id="257" r:id="R89be3bdf08ef4407"/>
    <p:sldId xmlns:r="http://schemas.openxmlformats.org/officeDocument/2006/relationships" id="258" r:id="R144ede9c97bb4a1a"/>
    <p:sldId xmlns:r="http://schemas.openxmlformats.org/officeDocument/2006/relationships" id="259" r:id="R81b2fdb621f74c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6de9c973dd45ef" /><Relationship Type="http://schemas.openxmlformats.org/officeDocument/2006/relationships/slideMaster" Target="/ppt/slideMasters/slideMaster1.xml" Id="R03b21e6ccd6e4179" /><Relationship Type="http://schemas.openxmlformats.org/officeDocument/2006/relationships/notesMaster" Target="/ppt/notesMasters/notesMaster1.xml" Id="Raa8d5dab3d824f28" /><Relationship Type="http://schemas.openxmlformats.org/officeDocument/2006/relationships/presProps" Target="/ppt/presProps.xml" Id="Rd3f02b99dbf84175" /><Relationship Type="http://schemas.openxmlformats.org/officeDocument/2006/relationships/tableStyles" Target="/ppt/tableStyles.xml" Id="R15b438d47c4b40ad" /><Relationship Type="http://schemas.openxmlformats.org/officeDocument/2006/relationships/slide" Target="/ppt/slides/slide1.xml" Id="Rd02d8e50e6514008" /><Relationship Type="http://schemas.openxmlformats.org/officeDocument/2006/relationships/slide" Target="/ppt/slides/slide2.xml" Id="R89be3bdf08ef4407" /><Relationship Type="http://schemas.openxmlformats.org/officeDocument/2006/relationships/slide" Target="/ppt/slides/slide3.xml" Id="R144ede9c97bb4a1a" /><Relationship Type="http://schemas.openxmlformats.org/officeDocument/2006/relationships/slide" Target="/ppt/slides/slide4.xml" Id="R81b2fdb621f74c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dfdfd313784b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7b83c7802b4d86" /><Relationship Type="http://schemas.openxmlformats.org/officeDocument/2006/relationships/notesMaster" Target="/ppt/notesMasters/notesMaster1.xml" Id="R3e7a867d6d0744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e795c4d1ac4937" /><Relationship Type="http://schemas.openxmlformats.org/officeDocument/2006/relationships/notesMaster" Target="/ppt/notesMasters/notesMaster1.xml" Id="Rfad9b4e354994c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9d28b126db4bab" /><Relationship Type="http://schemas.openxmlformats.org/officeDocument/2006/relationships/notesMaster" Target="/ppt/notesMasters/notesMaster1.xml" Id="R0d96cddfc17c45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2c761915f947fa" /><Relationship Type="http://schemas.openxmlformats.org/officeDocument/2006/relationships/notesMaster" Target="/ppt/notesMasters/notesMaster1.xml" Id="Raaeacffbff514d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analysis/reviewer-stats-2026-09-12/summary.json and evidence.json. Engine c516c769e78b341dff6d14e182e7a683dd4f141e. 500 games per strategy, seeds 42–541. Perfect means 25. Scores are zero after losing all three lives. Simple and Cheater compared within the same player count and shuffled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analysis/reviewer-stats-2026-09-12/summary.json and evidence.json. Engine c516c769e78b341dff6d14e182e7a683dd4f141e. 500 games per strategy, seeds 42–541. Perfect means 25. Scores are zero after losing all three lives. Simple and Cheater compared within the same player count and shuffled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analysis/reviewer-stats-2026-09-12/summary.json and evidence.json. Engine c516c769e78b341dff6d14e182e7a683dd4f141e. 500 games per strategy, seeds 42–541. Perfect means 25. Scores are zero after losing all three lives. Simple and Cheater compared within the same player count and shuffled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analysis/reviewer-stats-2026-09-12/summary.json and evidence.json. Engine c516c769e78b341dff6d14e182e7a683dd4f141e. 500 games per strategy, seeds 42–541. Perfect means 25. Scores are zero after losing all three lives. Simple and Cheater compared within the same player count and shuffled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a3d5d8523c47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40de46645143e0" /><Relationship Type="http://schemas.openxmlformats.org/officeDocument/2006/relationships/slideLayout" Target="/ppt/slideLayouts/slideLayout1.xml" Id="R5c5cba633e6348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5cba633e6348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c738e3aeef4e28" /><Relationship Type="http://schemas.openxmlformats.org/officeDocument/2006/relationships/chart" Target="/ppt/slides/charts/chart1.xml" Id="Re222ac910897476e" /><Relationship Type="http://schemas.openxmlformats.org/officeDocument/2006/relationships/notesSlide" Target="/ppt/notesSlides/notesSlide1.xml" Id="R22c471b176d94b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61cb76502a470e" /><Relationship Type="http://schemas.openxmlformats.org/officeDocument/2006/relationships/chart" Target="/ppt/slides/charts/chart2.xml" Id="Rf3b0a4b3a4844a0b" /><Relationship Type="http://schemas.openxmlformats.org/officeDocument/2006/relationships/notesSlide" Target="/ppt/notesSlides/notesSlide2.xml" Id="Ra10957384d104b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ae06a89a7a4f2a" /><Relationship Type="http://schemas.openxmlformats.org/officeDocument/2006/relationships/chart" Target="/ppt/slides/charts/chart3.xml" Id="R840889cc4c564e6b" /><Relationship Type="http://schemas.openxmlformats.org/officeDocument/2006/relationships/notesSlide" Target="/ppt/notesSlides/notesSlide3.xml" Id="Rfec2c5da210641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db27eaf14b4416" /><Relationship Type="http://schemas.openxmlformats.org/officeDocument/2006/relationships/chart" Target="/ppt/slides/charts/chart4.xml" Id="R7ff1c0531da44212" /><Relationship Type="http://schemas.openxmlformats.org/officeDocument/2006/relationships/notesSlide" Target="/ppt/notesSlides/notesSlide4.xml" Id="R7a35d8f2ee5e41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Perfect games</c:v>
          </c:tx>
          <c:dPt>
            <c:idx val="0"/>
            <c:invertIfNegative val="0"/>
            <c:spPr>
              <a:solidFill xmlns:a="http://schemas.openxmlformats.org/drawingml/2006/main">
                <a:srgbClr val="286A8A"/>
              </a:solidFill>
            </c:spPr>
          </c:dPt>
          <c:dPt>
            <c:idx val="1"/>
            <c:invertIfNegative val="0"/>
            <c:spPr>
              <a:solidFill xmlns:a="http://schemas.openxmlformats.org/drawingml/2006/main">
                <a:srgbClr val="286A8A"/>
              </a:solidFill>
            </c:spPr>
          </c:dPt>
          <c:dPt>
            <c:idx val="2"/>
            <c:invertIfNegative val="0"/>
            <c:spPr>
              <a:solidFill xmlns:a="http://schemas.openxmlformats.org/drawingml/2006/main">
                <a:srgbClr val="286A8A"/>
              </a:solidFill>
            </c:spPr>
          </c:dPt>
          <c:dPt>
            <c:idx val="3"/>
            <c:invertIfNegative val="0"/>
            <c:spPr>
              <a:solidFill xmlns:a="http://schemas.openxmlformats.org/drawingml/2006/main">
                <a:srgbClr val="2E7864"/>
              </a:solidFill>
            </c:spPr>
          </c:dPt>
          <c:dPt>
            <c:idx val="4"/>
            <c:invertIfNegative val="0"/>
            <c:spPr>
              <a:solidFill xmlns:a="http://schemas.openxmlformats.org/drawingml/2006/main">
                <a:srgbClr val="77818B"/>
              </a:solidFill>
            </c:spPr>
          </c:dPt>
          <c:dPt>
            <c:idx val="5"/>
            <c:invertIfNegative val="0"/>
            <c:spPr>
              <a:solidFill xmlns:a="http://schemas.openxmlformats.org/drawingml/2006/main">
                <a:srgbClr val="77818B"/>
              </a:solidFill>
            </c:spPr>
          </c:dPt>
          <c:dPt>
            <c:idx val="6"/>
            <c:invertIfNegative val="0"/>
            <c:spPr>
              <a:solidFill xmlns:a="http://schemas.openxmlformats.org/drawingml/2006/main">
                <a:srgbClr val="77818B"/>
              </a:solidFill>
            </c:spPr>
          </c:dPt>
          <c:cat>
            <c:strRef>
              <c:f>'Chart Data'!$A$2:$A$8</c:f>
              <c:strCache>
                <c:ptCount val="7"/>
                <c:pt idx="0">
                  <c:v>3p Simple</c:v>
                </c:pt>
                <c:pt idx="1">
                  <c:v>4p Simple</c:v>
                </c:pt>
                <c:pt idx="2">
                  <c:v>5p Simple</c:v>
                </c:pt>
                <c:pt idx="3">
                  <c:v>3p Dynamic</c:v>
                </c:pt>
                <c:pt idx="4">
                  <c:v>3p Cheater</c:v>
                </c:pt>
                <c:pt idx="5">
                  <c:v>4p Cheater</c:v>
                </c:pt>
                <c:pt idx="6">
                  <c:v>5p Cheater</c:v>
                </c:pt>
              </c:strCache>
            </c:strRef>
          </c:cat>
          <c:val>
            <c:numRef>
              <c:f>'Chart Data'!$B$2:$B$8</c:f>
              <c:numCache>
                <c:formatCode>0.0%</c:formatCode>
                <c:ptCount val="7"/>
                <c:pt idx="0">
                  <c:v>0.364</c:v>
                </c:pt>
                <c:pt idx="1">
                  <c:v>0.426</c:v>
                </c:pt>
                <c:pt idx="2">
                  <c:v>0.23</c:v>
                </c:pt>
                <c:pt idx="3">
                  <c:v>0.77</c:v>
                </c:pt>
                <c:pt idx="4">
                  <c:v>0.95</c:v>
                </c:pt>
                <c:pt idx="5">
                  <c:v>0.896</c:v>
                </c:pt>
                <c:pt idx="6">
                  <c:v>0.832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42F"/>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242F"/>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242F"/>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Tempo</c:v>
          </c:tx>
          <c:spPr>
            <a:solidFill xmlns:a="http://schemas.openxmlformats.org/drawingml/2006/main">
              <a:srgbClr val="286A8A"/>
            </a:solidFill>
          </c:spPr>
          <c:dLbls>
            <c:dLbl>
              <c:idx val="0"/>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161</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235</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317</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91</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s>
          <c:cat>
            <c:strRef>
              <c:f>'Chart Data'!$A$2:$A$5</c:f>
              <c:strCache>
                <c:ptCount val="4"/>
                <c:pt idx="0">
                  <c:v>3p Simple (n=318)</c:v>
                </c:pt>
                <c:pt idx="1">
                  <c:v>4p Simple (n=287)</c:v>
                </c:pt>
                <c:pt idx="2">
                  <c:v>5p Simple (n=385)</c:v>
                </c:pt>
                <c:pt idx="3">
                  <c:v>3p Dynamic (n=115)</c:v>
                </c:pt>
              </c:strCache>
            </c:strRef>
          </c:cat>
          <c:val>
            <c:numRef>
              <c:f>'Chart Data'!$B$2:$B$5</c:f>
              <c:numCache>
                <c:formatCode>0.0%</c:formatCode>
                <c:ptCount val="4"/>
                <c:pt idx="0">
                  <c:v>0.5062893082</c:v>
                </c:pt>
                <c:pt idx="1">
                  <c:v>0.818815331</c:v>
                </c:pt>
                <c:pt idx="2">
                  <c:v>0.8233766234</c:v>
                </c:pt>
                <c:pt idx="3">
                  <c:v>0.7913043478</c:v>
                </c:pt>
              </c:numCache>
            </c:numRef>
          </c:val>
        </c:ser>
        <c:ser>
          <c:idx val="1"/>
          <c:order val="1"/>
          <c:tx>
            <c:v>Last needed copy lost</c:v>
          </c:tx>
          <c:spPr>
            <a:solidFill xmlns:a="http://schemas.openxmlformats.org/drawingml/2006/main">
              <a:srgbClr val="CD8B2E"/>
            </a:solidFill>
          </c:spPr>
          <c:dLbls>
            <c:dLbl>
              <c:idx val="0"/>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157</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51</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68</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23</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s>
          <c:cat>
            <c:strRef>
              <c:f>'Chart Data'!$C$2:$C$5</c:f>
              <c:strCache>
                <c:ptCount val="4"/>
                <c:pt idx="0">
                  <c:v>3p Simple (n=318)</c:v>
                </c:pt>
                <c:pt idx="1">
                  <c:v>4p Simple (n=287)</c:v>
                </c:pt>
                <c:pt idx="2">
                  <c:v>5p Simple (n=385)</c:v>
                </c:pt>
                <c:pt idx="3">
                  <c:v>3p Dynamic (n=115)</c:v>
                </c:pt>
              </c:strCache>
            </c:strRef>
          </c:cat>
          <c:val>
            <c:numRef>
              <c:f>'Chart Data'!$D$2:$D$5</c:f>
              <c:numCache>
                <c:formatCode>0.0%</c:formatCode>
                <c:ptCount val="4"/>
                <c:pt idx="0">
                  <c:v>0.4937106918</c:v>
                </c:pt>
                <c:pt idx="1">
                  <c:v>0.1777003484</c:v>
                </c:pt>
                <c:pt idx="2">
                  <c:v>0.1766233766</c:v>
                </c:pt>
                <c:pt idx="3">
                  <c:v>0.2</c:v>
                </c:pt>
              </c:numCache>
            </c:numRef>
          </c:val>
        </c:ser>
        <c:ser>
          <c:idx val="2"/>
          <c:order val="2"/>
          <c:tx>
            <c:v>All lives lost</c:v>
          </c:tx>
          <c:spPr>
            <a:solidFill xmlns:a="http://schemas.openxmlformats.org/drawingml/2006/main">
              <a:srgbClr val="A84843"/>
            </a:solidFill>
          </c:spPr>
          <c:dLbls>
            <c:dLbl>
              <c:idx val="0"/>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800" b="1">
                        <a:solidFill>
                          <a:srgbClr val="FFFFFF"/>
                        </a:solidFill>
                        <a:latin typeface="Arial"/>
                        <a:ea typeface="Arial"/>
                        <a:cs typeface="Arial"/>
                      </a:rPr>
                      <a:t/>
                    </a:r>
                  </a:p>
                </c:rich>
              </c:tx>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showLegendKey val="0"/>
              <c:showVal val="0"/>
              <c:showCatName val="0"/>
              <c:showSerName val="0"/>
              <c:showPercent val="0"/>
              <c:showBubbleSize val="0"/>
            </c:dLbl>
          </c:dLbls>
          <c:cat>
            <c:strRef>
              <c:f>'Chart Data'!$E$2:$E$5</c:f>
              <c:strCache>
                <c:ptCount val="4"/>
                <c:pt idx="0">
                  <c:v>3p Simple (n=318)</c:v>
                </c:pt>
                <c:pt idx="1">
                  <c:v>4p Simple (n=287)</c:v>
                </c:pt>
                <c:pt idx="2">
                  <c:v>5p Simple (n=385)</c:v>
                </c:pt>
                <c:pt idx="3">
                  <c:v>3p Dynamic (n=115)</c:v>
                </c:pt>
              </c:strCache>
            </c:strRef>
          </c:cat>
          <c:val>
            <c:numRef>
              <c:f>'Chart Data'!$F$2:$F$5</c:f>
              <c:numCache>
                <c:formatCode>0.0%</c:formatCode>
                <c:ptCount val="4"/>
                <c:pt idx="0">
                  <c:v>0</c:v>
                </c:pt>
                <c:pt idx="1">
                  <c:v>0.0034843206</c:v>
                </c:pt>
                <c:pt idx="2">
                  <c:v>0</c:v>
                </c:pt>
                <c:pt idx="3">
                  <c:v>0.0086956522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FFFFFF"/>
                  </a:solidFill>
                  <a:latin typeface="Arial"/>
                  <a:ea typeface="Arial"/>
                  <a:cs typeface="Arial"/>
                </a:defRPr>
              </a:pPr>
            </a:p>
          </c:txPr>
          <c:dLblPos val="ctr"/>
          <c:showLegendKey val="0"/>
          <c:showVal val="0"/>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242F"/>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242F"/>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8242F"/>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Share of turns with zero tokens</c:v>
          </c:tx>
          <c:spPr>
            <a:solidFill xmlns:a="http://schemas.openxmlformats.org/drawingml/2006/main">
              <a:srgbClr val="286A8A"/>
            </a:solidFill>
          </c:spPr>
          <c:cat>
            <c:strRef>
              <c:f>'Chart Data'!$A$2:$A$5</c:f>
              <c:strCache>
                <c:ptCount val="4"/>
                <c:pt idx="0">
                  <c:v>3p Simple</c:v>
                </c:pt>
                <c:pt idx="1">
                  <c:v>4p Simple</c:v>
                </c:pt>
                <c:pt idx="2">
                  <c:v>5p Simple</c:v>
                </c:pt>
                <c:pt idx="3">
                  <c:v>3p Dynamic</c:v>
                </c:pt>
              </c:strCache>
            </c:strRef>
          </c:cat>
          <c:val>
            <c:numRef>
              <c:f>'Chart Data'!$B$2:$B$5</c:f>
              <c:numCache>
                <c:formatCode>0.0%</c:formatCode>
                <c:ptCount val="4"/>
                <c:pt idx="0">
                  <c:v>0.1432613708</c:v>
                </c:pt>
                <c:pt idx="1">
                  <c:v>0.0683220794</c:v>
                </c:pt>
                <c:pt idx="2">
                  <c:v>0.098306158</c:v>
                </c:pt>
                <c:pt idx="3">
                  <c:v>0.1065710353</c:v>
                </c:pt>
              </c:numCache>
            </c:numRef>
          </c:val>
        </c:ser>
        <c:ser>
          <c:idx val="1"/>
          <c:order val="1"/>
          <c:tx>
            <c:v>Share of games reaching zero tokens</c:v>
          </c:tx>
          <c:spPr>
            <a:solidFill xmlns:a="http://schemas.openxmlformats.org/drawingml/2006/main">
              <a:srgbClr val="91BAB0"/>
            </a:solidFill>
          </c:spPr>
          <c:cat>
            <c:strRef>
              <c:f>'Chart Data'!$C$2:$C$5</c:f>
              <c:strCache>
                <c:ptCount val="4"/>
                <c:pt idx="0">
                  <c:v>3p Simple</c:v>
                </c:pt>
                <c:pt idx="1">
                  <c:v>4p Simple</c:v>
                </c:pt>
                <c:pt idx="2">
                  <c:v>5p Simple</c:v>
                </c:pt>
                <c:pt idx="3">
                  <c:v>3p Dynamic</c:v>
                </c:pt>
              </c:strCache>
            </c:strRef>
          </c:cat>
          <c:val>
            <c:numRef>
              <c:f>'Chart Data'!$D$2:$D$5</c:f>
              <c:numCache>
                <c:formatCode>0.0%</c:formatCode>
                <c:ptCount val="4"/>
                <c:pt idx="0">
                  <c:v>0.842</c:v>
                </c:pt>
                <c:pt idx="1">
                  <c:v>0.526</c:v>
                </c:pt>
                <c:pt idx="2">
                  <c:v>0.668</c:v>
                </c:pt>
                <c:pt idx="3">
                  <c:v>0.852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8242F"/>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242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DDD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242F"/>
                </a:solidFill>
                <a:latin typeface="Arial"/>
                <a:ea typeface="Arial"/>
                <a:cs typeface="Arial"/>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242F"/>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Simple</c:v>
          </c:tx>
          <c:spPr>
            <a:solidFill xmlns:a="http://schemas.openxmlformats.org/drawingml/2006/main">
              <a:srgbClr val="286A8A"/>
            </a:solidFill>
          </c:spPr>
          <c:cat>
            <c:numRef>
              <c:f>'Chart Data'!$A$2:$A$12</c:f>
              <c:numCache>
                <c:formatCode>General</c:formatCode>
                <c:ptCount val="11"/>
                <c:pt idx="0">
                  <c:v>0</c:v>
                </c:pt>
                <c:pt idx="1">
                  <c:v>16</c:v>
                </c:pt>
                <c:pt idx="2">
                  <c:v>17</c:v>
                </c:pt>
                <c:pt idx="3">
                  <c:v>18</c:v>
                </c:pt>
                <c:pt idx="4">
                  <c:v>19</c:v>
                </c:pt>
                <c:pt idx="5">
                  <c:v>20</c:v>
                </c:pt>
                <c:pt idx="6">
                  <c:v>21</c:v>
                </c:pt>
                <c:pt idx="7">
                  <c:v>22</c:v>
                </c:pt>
                <c:pt idx="8">
                  <c:v>23</c:v>
                </c:pt>
                <c:pt idx="9">
                  <c:v>24</c:v>
                </c:pt>
                <c:pt idx="10">
                  <c:v>25</c:v>
                </c:pt>
              </c:numCache>
            </c:numRef>
          </c:cat>
          <c:val>
            <c:numRef>
              <c:f>'Chart Data'!$B$2:$B$12</c:f>
              <c:numCache>
                <c:formatCode>General</c:formatCode>
                <c:ptCount val="11"/>
                <c:pt idx="0">
                  <c:v>0</c:v>
                </c:pt>
                <c:pt idx="1">
                  <c:v>1</c:v>
                </c:pt>
                <c:pt idx="2">
                  <c:v>2</c:v>
                </c:pt>
                <c:pt idx="3">
                  <c:v>2</c:v>
                </c:pt>
                <c:pt idx="4">
                  <c:v>5</c:v>
                </c:pt>
                <c:pt idx="5">
                  <c:v>20</c:v>
                </c:pt>
                <c:pt idx="6">
                  <c:v>23</c:v>
                </c:pt>
                <c:pt idx="7">
                  <c:v>56</c:v>
                </c:pt>
                <c:pt idx="8">
                  <c:v>89</c:v>
                </c:pt>
                <c:pt idx="9">
                  <c:v>120</c:v>
                </c:pt>
                <c:pt idx="10">
                  <c:v>182</c:v>
                </c:pt>
              </c:numCache>
            </c:numRef>
          </c:val>
        </c:ser>
        <c:ser>
          <c:idx val="1"/>
          <c:order val="1"/>
          <c:tx>
            <c:v>Dynamic</c:v>
          </c:tx>
          <c:spPr>
            <a:solidFill xmlns:a="http://schemas.openxmlformats.org/drawingml/2006/main">
              <a:srgbClr val="2E7864"/>
            </a:solidFill>
          </c:spPr>
          <c:cat>
            <c:numRef>
              <c:f>'Chart Data'!$C$2:$C$12</c:f>
              <c:numCache>
                <c:formatCode>General</c:formatCode>
                <c:ptCount val="11"/>
                <c:pt idx="0">
                  <c:v>0</c:v>
                </c:pt>
                <c:pt idx="1">
                  <c:v>16</c:v>
                </c:pt>
                <c:pt idx="2">
                  <c:v>17</c:v>
                </c:pt>
                <c:pt idx="3">
                  <c:v>18</c:v>
                </c:pt>
                <c:pt idx="4">
                  <c:v>19</c:v>
                </c:pt>
                <c:pt idx="5">
                  <c:v>20</c:v>
                </c:pt>
                <c:pt idx="6">
                  <c:v>21</c:v>
                </c:pt>
                <c:pt idx="7">
                  <c:v>22</c:v>
                </c:pt>
                <c:pt idx="8">
                  <c:v>23</c:v>
                </c:pt>
                <c:pt idx="9">
                  <c:v>24</c:v>
                </c:pt>
                <c:pt idx="10">
                  <c:v>25</c:v>
                </c:pt>
              </c:numCache>
            </c:numRef>
          </c:cat>
          <c:val>
            <c:numRef>
              <c:f>'Chart Data'!$D$2:$D$12</c:f>
              <c:numCache>
                <c:formatCode>General</c:formatCode>
                <c:ptCount val="11"/>
                <c:pt idx="0">
                  <c:v>1</c:v>
                </c:pt>
                <c:pt idx="1">
                  <c:v>0</c:v>
                </c:pt>
                <c:pt idx="2">
                  <c:v>0</c:v>
                </c:pt>
                <c:pt idx="3">
                  <c:v>0</c:v>
                </c:pt>
                <c:pt idx="4">
                  <c:v>1</c:v>
                </c:pt>
                <c:pt idx="5">
                  <c:v>2</c:v>
                </c:pt>
                <c:pt idx="6">
                  <c:v>2</c:v>
                </c:pt>
                <c:pt idx="7">
                  <c:v>11</c:v>
                </c:pt>
                <c:pt idx="8">
                  <c:v>25</c:v>
                </c:pt>
                <c:pt idx="9">
                  <c:v>73</c:v>
                </c:pt>
                <c:pt idx="10">
                  <c:v>385</c:v>
                </c:pt>
              </c:numCache>
            </c:numRef>
          </c:val>
        </c:ser>
        <c:ser>
          <c:idx val="2"/>
          <c:order val="2"/>
          <c:tx>
            <c:v>Cheater</c:v>
          </c:tx>
          <c:spPr>
            <a:solidFill xmlns:a="http://schemas.openxmlformats.org/drawingml/2006/main">
              <a:srgbClr val="77818B"/>
            </a:solidFill>
          </c:spPr>
          <c:cat>
            <c:numRef>
              <c:f>'Chart Data'!$E$2:$E$12</c:f>
              <c:numCache>
                <c:formatCode>General</c:formatCode>
                <c:ptCount val="11"/>
                <c:pt idx="0">
                  <c:v>0</c:v>
                </c:pt>
                <c:pt idx="1">
                  <c:v>16</c:v>
                </c:pt>
                <c:pt idx="2">
                  <c:v>17</c:v>
                </c:pt>
                <c:pt idx="3">
                  <c:v>18</c:v>
                </c:pt>
                <c:pt idx="4">
                  <c:v>19</c:v>
                </c:pt>
                <c:pt idx="5">
                  <c:v>20</c:v>
                </c:pt>
                <c:pt idx="6">
                  <c:v>21</c:v>
                </c:pt>
                <c:pt idx="7">
                  <c:v>22</c:v>
                </c:pt>
                <c:pt idx="8">
                  <c:v>23</c:v>
                </c:pt>
                <c:pt idx="9">
                  <c:v>24</c:v>
                </c:pt>
                <c:pt idx="10">
                  <c:v>25</c:v>
                </c:pt>
              </c:numCache>
            </c:numRef>
          </c:cat>
          <c:val>
            <c:numRef>
              <c:f>'Chart Data'!$F$2:$F$12</c:f>
              <c:numCache>
                <c:formatCode>General</c:formatCode>
                <c:ptCount val="11"/>
                <c:pt idx="0">
                  <c:v>0</c:v>
                </c:pt>
                <c:pt idx="1">
                  <c:v>0</c:v>
                </c:pt>
                <c:pt idx="2">
                  <c:v>0</c:v>
                </c:pt>
                <c:pt idx="3">
                  <c:v>0</c:v>
                </c:pt>
                <c:pt idx="4">
                  <c:v>0</c:v>
                </c:pt>
                <c:pt idx="5">
                  <c:v>0</c:v>
                </c:pt>
                <c:pt idx="6">
                  <c:v>0</c:v>
                </c:pt>
                <c:pt idx="7">
                  <c:v>0</c:v>
                </c:pt>
                <c:pt idx="8">
                  <c:v>5</c:v>
                </c:pt>
                <c:pt idx="9">
                  <c:v>20</c:v>
                </c:pt>
                <c:pt idx="10">
                  <c:v>475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Score (1–15 omitted; no games)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242F"/>
                </a:solidFill>
                <a:latin typeface="Arial"/>
                <a:ea typeface="Arial"/>
                <a:cs typeface="Arial"/>
              </a:defRPr>
            </a:pPr>
          </a:p>
        </c:txPr>
        <c:crossAx val="48672768"/>
      </c:catAx>
      <c:valAx>
        <c:axId val="48672768"/>
        <c:scaling>
          <c:orientation val="minMax"/>
          <c:max val="500"/>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Games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242F"/>
                </a:solidFill>
                <a:latin typeface="Arial"/>
                <a:ea typeface="Arial"/>
                <a:cs typeface="Aria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8242F"/>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192FB3B-C380-423E-8F8F-98CD6E8CE8F6}"/>
              </a:ext>
            </a:extLst>
          </p:cNvPr>
          <p:cNvSpPr>
            <a:spLocks xmlns:a="http://schemas.openxmlformats.org/drawingml/2006/main" noGrp="1"/>
          </p:cNvSpPr>
          <p:nvPr/>
        </p:nvSpPr>
        <p:spPr>
          <a:xfrm xmlns:a="http://schemas.openxmlformats.org/drawingml/2006/main">
            <a:off x="419100" y="228600"/>
            <a:ext cx="1123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242F"/>
                </a:solidFill>
                <a:latin typeface="Arial"/>
                <a:ea typeface="Arial"/>
                <a:cs typeface="Arial"/>
              </a:defRPr>
            </a:pPr>
            <a:r>
              <a:rPr sz="2850" b="1">
                <a:solidFill>
                  <a:srgbClr val="18242F"/>
                </a:solidFill>
                <a:latin typeface="Arial"/>
                <a:ea typeface="Arial"/>
                <a:cs typeface="Arial"/>
              </a:rPr>
              <a:t>Perfect-game rates</a:t>
            </a:r>
          </a:p>
        </p:txBody>
      </p:sp>
      <p:sp>
        <p:nvSpPr>
          <p:cNvPr id="2" name="">
            <a:extLst xmlns:a="http://schemas.openxmlformats.org/drawingml/2006/main">
              <a:ext uri="{FF2B5EF4-FFF2-40B4-BE49-F238E27FC236}">
                <a16:creationId xmlns:a16="http://schemas.microsoft.com/office/drawing/2014/main" id="{BC4F7DEF-D3E7-4D61-A55A-9E59BE266917}"/>
              </a:ext>
            </a:extLst>
          </p:cNvPr>
          <p:cNvSpPr>
            <a:spLocks xmlns:a="http://schemas.openxmlformats.org/drawingml/2006/main" noGrp="1"/>
          </p:cNvSpPr>
          <p:nvPr/>
        </p:nvSpPr>
        <p:spPr>
          <a:xfrm xmlns:a="http://schemas.openxmlformats.org/drawingml/2006/main">
            <a:off x="419100" y="6057900"/>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242F"/>
                </a:solidFill>
                <a:latin typeface="Arial"/>
                <a:ea typeface="Arial"/>
                <a:cs typeface="Arial"/>
              </a:defRPr>
            </a:pPr>
            <a:r>
              <a:rPr sz="1725" b="0">
                <a:solidFill>
                  <a:srgbClr val="18242F"/>
                </a:solidFill>
                <a:latin typeface="Arial"/>
                <a:ea typeface="Arial"/>
                <a:cs typeface="Arial"/>
              </a:rPr>
              <a:t>500 games per strategy. Perfect game = 25 points. Cheater sees its own hand.</a:t>
            </a:r>
          </a:p>
        </p:txBody>
      </p:sp>
      <p:graphicFrame>
        <p:nvGraphicFramePr>
          <p:cNvPr id="6" name="Chart"/>
          <p:cNvGraphicFramePr/>
          <p:nvPr/>
        </p:nvGraphicFramePr>
        <p:xfrm>
          <a:off xmlns:a="http://schemas.openxmlformats.org/drawingml/2006/main" x="333375" y="1000125"/>
          <a:ext xmlns:a="http://schemas.openxmlformats.org/drawingml/2006/main" cx="11477625" cy="4762500"/>
        </p:xfrm>
        <a:graphic xmlns:a="http://schemas.openxmlformats.org/drawingml/2006/main">
          <a:graphicData uri="http://schemas.openxmlformats.org/drawingml/2006/chart">
            <c:chart xmlns:r="http://schemas.openxmlformats.org/officeDocument/2006/relationships" xmlns:c="http://schemas.openxmlformats.org/drawingml/2006/chart" r:id="Re222ac910897476e"/>
          </a:graphicData>
        </a:graphic>
      </p:graphicFrame>
    </p:spTree>
    <p:extLst>
      <p:ext uri="{BB962C8B-B14F-4D97-AF65-F5344CB8AC3E}">
        <p14:creationId xmlns:p14="http://schemas.microsoft.com/office/powerpoint/2010/main" val="1494320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F257B8A-8621-4ACE-B984-24A6D2555C4C}"/>
              </a:ext>
            </a:extLst>
          </p:cNvPr>
          <p:cNvSpPr>
            <a:spLocks xmlns:a="http://schemas.openxmlformats.org/drawingml/2006/main" noGrp="1"/>
          </p:cNvSpPr>
          <p:nvPr/>
        </p:nvSpPr>
        <p:spPr>
          <a:xfrm xmlns:a="http://schemas.openxmlformats.org/drawingml/2006/main">
            <a:off x="419100" y="228600"/>
            <a:ext cx="1123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242F"/>
                </a:solidFill>
                <a:latin typeface="Arial"/>
                <a:ea typeface="Arial"/>
                <a:cs typeface="Arial"/>
              </a:defRPr>
            </a:pPr>
            <a:r>
              <a:rPr sz="2850" b="1">
                <a:solidFill>
                  <a:srgbClr val="18242F"/>
                </a:solidFill>
                <a:latin typeface="Arial"/>
                <a:ea typeface="Arial"/>
                <a:cs typeface="Arial"/>
              </a:rPr>
              <a:t>Non-perfect outcomes</a:t>
            </a:r>
          </a:p>
        </p:txBody>
      </p:sp>
      <p:sp>
        <p:nvSpPr>
          <p:cNvPr id="2" name="">
            <a:extLst xmlns:a="http://schemas.openxmlformats.org/drawingml/2006/main">
              <a:ext uri="{FF2B5EF4-FFF2-40B4-BE49-F238E27FC236}">
                <a16:creationId xmlns:a16="http://schemas.microsoft.com/office/drawing/2014/main" id="{C14137B7-C698-40A0-895D-C16BE1B3128D}"/>
              </a:ext>
            </a:extLst>
          </p:cNvPr>
          <p:cNvSpPr>
            <a:spLocks xmlns:a="http://schemas.openxmlformats.org/drawingml/2006/main" noGrp="1"/>
          </p:cNvSpPr>
          <p:nvPr/>
        </p:nvSpPr>
        <p:spPr>
          <a:xfrm xmlns:a="http://schemas.openxmlformats.org/drawingml/2006/main">
            <a:off x="419100" y="6057900"/>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242F"/>
                </a:solidFill>
                <a:latin typeface="Arial"/>
                <a:ea typeface="Arial"/>
                <a:cs typeface="Arial"/>
              </a:defRPr>
            </a:pPr>
            <a:r>
              <a:rPr sz="1725" b="0">
                <a:solidFill>
                  <a:srgbClr val="18242F"/>
                </a:solidFill>
                <a:latin typeface="Arial"/>
                <a:ea typeface="Arial"/>
                <a:cs typeface="Arial"/>
              </a:rPr>
              <a:t>All lives lost: 3p Simple 0, 4p Simple 1, 5p Simple 0, Dynamic 1. Counts shown within bars.</a:t>
            </a:r>
          </a:p>
        </p:txBody>
      </p:sp>
      <p:graphicFrame>
        <p:nvGraphicFramePr>
          <p:cNvPr id="6" name="Chart"/>
          <p:cNvGraphicFramePr/>
          <p:nvPr/>
        </p:nvGraphicFramePr>
        <p:xfrm>
          <a:off xmlns:a="http://schemas.openxmlformats.org/drawingml/2006/main" x="333375" y="1000125"/>
          <a:ext xmlns:a="http://schemas.openxmlformats.org/drawingml/2006/main" cx="11477625" cy="4762500"/>
        </p:xfrm>
        <a:graphic xmlns:a="http://schemas.openxmlformats.org/drawingml/2006/main">
          <a:graphicData uri="http://schemas.openxmlformats.org/drawingml/2006/chart">
            <c:chart xmlns:r="http://schemas.openxmlformats.org/officeDocument/2006/relationships" xmlns:c="http://schemas.openxmlformats.org/drawingml/2006/chart" r:id="Rf3b0a4b3a4844a0b"/>
          </a:graphicData>
        </a:graphic>
      </p:graphicFrame>
    </p:spTree>
    <p:extLst>
      <p:ext uri="{BB962C8B-B14F-4D97-AF65-F5344CB8AC3E}">
        <p14:creationId xmlns:p14="http://schemas.microsoft.com/office/powerpoint/2010/main" val="2329787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A131D57-3083-4B10-BEAE-9B5711EA3090}"/>
              </a:ext>
            </a:extLst>
          </p:cNvPr>
          <p:cNvSpPr>
            <a:spLocks xmlns:a="http://schemas.openxmlformats.org/drawingml/2006/main" noGrp="1"/>
          </p:cNvSpPr>
          <p:nvPr/>
        </p:nvSpPr>
        <p:spPr>
          <a:xfrm xmlns:a="http://schemas.openxmlformats.org/drawingml/2006/main">
            <a:off x="419100" y="228600"/>
            <a:ext cx="1123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242F"/>
                </a:solidFill>
                <a:latin typeface="Arial"/>
                <a:ea typeface="Arial"/>
                <a:cs typeface="Arial"/>
              </a:defRPr>
            </a:pPr>
            <a:r>
              <a:rPr sz="2850" b="1">
                <a:solidFill>
                  <a:srgbClr val="18242F"/>
                </a:solidFill>
                <a:latin typeface="Arial"/>
                <a:ea typeface="Arial"/>
                <a:cs typeface="Arial"/>
              </a:rPr>
              <a:t>Hint tokens reach zero regularly</a:t>
            </a:r>
          </a:p>
        </p:txBody>
      </p:sp>
      <p:sp>
        <p:nvSpPr>
          <p:cNvPr id="2" name="">
            <a:extLst xmlns:a="http://schemas.openxmlformats.org/drawingml/2006/main">
              <a:ext uri="{FF2B5EF4-FFF2-40B4-BE49-F238E27FC236}">
                <a16:creationId xmlns:a16="http://schemas.microsoft.com/office/drawing/2014/main" id="{0257E1E6-00CA-42EE-877D-58D91E8A06FD}"/>
              </a:ext>
            </a:extLst>
          </p:cNvPr>
          <p:cNvSpPr>
            <a:spLocks xmlns:a="http://schemas.openxmlformats.org/drawingml/2006/main" noGrp="1"/>
          </p:cNvSpPr>
          <p:nvPr/>
        </p:nvSpPr>
        <p:spPr>
          <a:xfrm xmlns:a="http://schemas.openxmlformats.org/drawingml/2006/main">
            <a:off x="419100" y="6057900"/>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242F"/>
                </a:solidFill>
                <a:latin typeface="Arial"/>
                <a:ea typeface="Arial"/>
                <a:cs typeface="Arial"/>
              </a:defRPr>
            </a:pPr>
            <a:r>
              <a:rPr sz="1725" b="0">
                <a:solidFill>
                  <a:srgbClr val="18242F"/>
                </a:solidFill>
                <a:latin typeface="Arial"/>
                <a:ea typeface="Arial"/>
                <a:cs typeface="Arial"/>
              </a:rPr>
              <a:t>Tokens counted immediately before a move. Game rate counts games with at least one such turn.</a:t>
            </a:r>
          </a:p>
        </p:txBody>
      </p:sp>
      <p:graphicFrame>
        <p:nvGraphicFramePr>
          <p:cNvPr id="6" name="Chart"/>
          <p:cNvGraphicFramePr/>
          <p:nvPr/>
        </p:nvGraphicFramePr>
        <p:xfrm>
          <a:off xmlns:a="http://schemas.openxmlformats.org/drawingml/2006/main" x="333375" y="1000125"/>
          <a:ext xmlns:a="http://schemas.openxmlformats.org/drawingml/2006/main" cx="11477625" cy="4762500"/>
        </p:xfrm>
        <a:graphic xmlns:a="http://schemas.openxmlformats.org/drawingml/2006/main">
          <a:graphicData uri="http://schemas.openxmlformats.org/drawingml/2006/chart">
            <c:chart xmlns:r="http://schemas.openxmlformats.org/officeDocument/2006/relationships" xmlns:c="http://schemas.openxmlformats.org/drawingml/2006/chart" r:id="R840889cc4c564e6b"/>
          </a:graphicData>
        </a:graphic>
      </p:graphicFrame>
    </p:spTree>
    <p:extLst>
      <p:ext uri="{BB962C8B-B14F-4D97-AF65-F5344CB8AC3E}">
        <p14:creationId xmlns:p14="http://schemas.microsoft.com/office/powerpoint/2010/main" val="6280568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733EDA7-4864-400F-9F0D-3F499C0DE870}"/>
              </a:ext>
            </a:extLst>
          </p:cNvPr>
          <p:cNvSpPr>
            <a:spLocks xmlns:a="http://schemas.openxmlformats.org/drawingml/2006/main" noGrp="1"/>
          </p:cNvSpPr>
          <p:nvPr/>
        </p:nvSpPr>
        <p:spPr>
          <a:xfrm xmlns:a="http://schemas.openxmlformats.org/drawingml/2006/main">
            <a:off x="419100" y="228600"/>
            <a:ext cx="1123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242F"/>
                </a:solidFill>
                <a:latin typeface="Arial"/>
                <a:ea typeface="Arial"/>
                <a:cs typeface="Arial"/>
              </a:defRPr>
            </a:pPr>
            <a:r>
              <a:rPr sz="2850" b="1">
                <a:solidFill>
                  <a:srgbClr val="18242F"/>
                </a:solidFill>
                <a:latin typeface="Arial"/>
                <a:ea typeface="Arial"/>
                <a:cs typeface="Arial"/>
              </a:rPr>
              <a:t>Three-player score distributions</a:t>
            </a:r>
          </a:p>
        </p:txBody>
      </p:sp>
      <p:sp>
        <p:nvSpPr>
          <p:cNvPr id="2" name="">
            <a:extLst xmlns:a="http://schemas.openxmlformats.org/drawingml/2006/main">
              <a:ext uri="{FF2B5EF4-FFF2-40B4-BE49-F238E27FC236}">
                <a16:creationId xmlns:a16="http://schemas.microsoft.com/office/drawing/2014/main" id="{167DE117-2CA6-42B1-B638-9639B20E802C}"/>
              </a:ext>
            </a:extLst>
          </p:cNvPr>
          <p:cNvSpPr>
            <a:spLocks xmlns:a="http://schemas.openxmlformats.org/drawingml/2006/main" noGrp="1"/>
          </p:cNvSpPr>
          <p:nvPr/>
        </p:nvSpPr>
        <p:spPr>
          <a:xfrm xmlns:a="http://schemas.openxmlformats.org/drawingml/2006/main">
            <a:off x="419100" y="6057900"/>
            <a:ext cx="1123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242F"/>
                </a:solidFill>
                <a:latin typeface="Arial"/>
                <a:ea typeface="Arial"/>
                <a:cs typeface="Arial"/>
              </a:defRPr>
            </a:pPr>
            <a:r>
              <a:rPr sz="1725" b="0">
                <a:solidFill>
                  <a:srgbClr val="18242F"/>
                </a:solidFill>
                <a:latin typeface="Arial"/>
                <a:ea typeface="Arial"/>
                <a:cs typeface="Arial"/>
              </a:rPr>
              <a:t>500 games per strategy. A third lost life scores zero, including one Dynamic game.</a:t>
            </a:r>
          </a:p>
        </p:txBody>
      </p:sp>
      <p:graphicFrame>
        <p:nvGraphicFramePr>
          <p:cNvPr id="6" name="Chart"/>
          <p:cNvGraphicFramePr/>
          <p:nvPr/>
        </p:nvGraphicFramePr>
        <p:xfrm>
          <a:off xmlns:a="http://schemas.openxmlformats.org/drawingml/2006/main" x="333375" y="1000125"/>
          <a:ext xmlns:a="http://schemas.openxmlformats.org/drawingml/2006/main" cx="11477625" cy="4762500"/>
        </p:xfrm>
        <a:graphic xmlns:a="http://schemas.openxmlformats.org/drawingml/2006/main">
          <a:graphicData uri="http://schemas.openxmlformats.org/drawingml/2006/chart">
            <c:chart xmlns:r="http://schemas.openxmlformats.org/officeDocument/2006/relationships" xmlns:c="http://schemas.openxmlformats.org/drawingml/2006/chart" r:id="R7ff1c0531da44212"/>
          </a:graphicData>
        </a:graphic>
      </p:graphicFrame>
    </p:spTree>
    <p:extLst>
      <p:ext uri="{BB962C8B-B14F-4D97-AF65-F5344CB8AC3E}">
        <p14:creationId xmlns:p14="http://schemas.microsoft.com/office/powerpoint/2010/main" val="16831771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2026-09-12T17:40:29.6290000Z</dcterms:created>
  <dcterms:modified xsi:type="dcterms:W3CDTF">2026-09-12T17:40:29.6290000Z</dcterms:modified>
</coreProperties>
</file>